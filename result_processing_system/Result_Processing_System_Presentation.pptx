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 Processing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Backend API for student results, GPA/CGPA, analytics and academic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result processing can be slow and error-prone.</a:t>
            </a:r>
          </a:p>
          <a:p>
            <a:pPr>
              <a:defRPr sz="2200"/>
            </a:pPr>
            <a:r>
              <a:t>Institutions need consistent GPA/CGPA calculations.</a:t>
            </a:r>
          </a:p>
          <a:p>
            <a:pPr>
              <a:defRPr sz="2200"/>
            </a:pPr>
            <a:r>
              <a:t>Academic staff need ranking, course analysis and performance trends.</a:t>
            </a:r>
          </a:p>
          <a:p>
            <a:pPr>
              <a:defRPr sz="2200"/>
            </a:pPr>
            <a:r>
              <a:t>Students at academic risk should be identifiable from verified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 REST backend with FastAPI.</a:t>
            </a:r>
          </a:p>
          <a:p>
            <a:pPr>
              <a:defRPr sz="2200"/>
            </a:pPr>
            <a:r>
              <a:t>SQLite provides relational persistence for users, students, courses and results.</a:t>
            </a:r>
          </a:p>
          <a:p>
            <a:pPr>
              <a:defRPr sz="2200"/>
            </a:pPr>
            <a:r>
              <a:t>Pydantic schemas validate API data.</a:t>
            </a:r>
          </a:p>
          <a:p>
            <a:pPr>
              <a:defRPr sz="2200"/>
            </a:pPr>
            <a:r>
              <a:t>Service modules separate business/database operations from routes.</a:t>
            </a:r>
          </a:p>
          <a:p>
            <a:pPr>
              <a:defRPr sz="2200"/>
            </a:pPr>
            <a:r>
              <a:t>Pandas performs academic and performance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Client / Swagger UI</a:t>
            </a:r>
          </a:p>
          <a:p>
            <a:pPr>
              <a:defRPr sz="2200"/>
            </a:pPr>
            <a:r>
              <a:t>        ↓</a:t>
            </a:r>
          </a:p>
          <a:p>
            <a:pPr>
              <a:defRPr sz="2200"/>
            </a:pPr>
            <a:r>
              <a:t>FastAPI route layer</a:t>
            </a:r>
          </a:p>
          <a:p>
            <a:pPr>
              <a:defRPr sz="2200"/>
            </a:pPr>
            <a:r>
              <a:t>        ↓</a:t>
            </a:r>
          </a:p>
          <a:p>
            <a:pPr>
              <a:defRPr sz="2200"/>
            </a:pPr>
            <a:r>
              <a:t>Schemas + authentication/dependencies</a:t>
            </a:r>
          </a:p>
          <a:p>
            <a:pPr>
              <a:defRPr sz="2200"/>
            </a:pPr>
            <a:r>
              <a:t>        ↓</a:t>
            </a:r>
          </a:p>
          <a:p>
            <a:pPr>
              <a:defRPr sz="2200"/>
            </a:pPr>
            <a:r>
              <a:t>Service layer + analytics layer</a:t>
            </a:r>
          </a:p>
          <a:p>
            <a:pPr>
              <a:defRPr sz="2200"/>
            </a:pPr>
            <a:r>
              <a:t>        ↓</a:t>
            </a:r>
          </a:p>
          <a:p>
            <a:pPr>
              <a:defRPr sz="2200"/>
            </a:pPr>
            <a:r>
              <a:t>SQLite database</a:t>
            </a:r>
          </a:p>
          <a:p>
            <a:pPr>
              <a:defRPr sz="2200"/>
            </a:pPr>
            <a:r>
              <a:t>Verified results then feed analytics and insight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 store authentication accounts and roles.</a:t>
            </a:r>
          </a:p>
          <a:p>
            <a:pPr>
              <a:defRPr sz="2200"/>
            </a:pPr>
            <a:r>
              <a:t>Students store profiles linked optionally to user accounts.</a:t>
            </a:r>
          </a:p>
          <a:p>
            <a:pPr>
              <a:defRPr sz="2200"/>
            </a:pPr>
            <a:r>
              <a:t>Courses store course code, name and credit unit.</a:t>
            </a:r>
          </a:p>
          <a:p>
            <a:pPr>
              <a:defRPr sz="2200"/>
            </a:pPr>
            <a:r>
              <a:t>Results link students to courses and store score, semester and session.</a:t>
            </a:r>
          </a:p>
          <a:p>
            <a:pPr>
              <a:defRPr sz="2200"/>
            </a:pPr>
            <a:r>
              <a:t>Database constraints, indexes and foreign keys support integrity.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Core Result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Score range: 0–100.</a:t>
            </a:r>
          </a:p>
          <a:p>
            <a:pPr>
              <a:defRPr sz="2200"/>
            </a:pPr>
            <a:r>
              <a:t>70–100 → A → 5.0</a:t>
            </a:r>
          </a:p>
          <a:p>
            <a:pPr>
              <a:defRPr sz="2200"/>
            </a:pPr>
            <a:r>
              <a:t>60–69 → B → 4.0</a:t>
            </a:r>
          </a:p>
          <a:p>
            <a:pPr>
              <a:defRPr sz="2200"/>
            </a:pPr>
            <a:r>
              <a:t>50–59 → C → 3.0</a:t>
            </a:r>
          </a:p>
          <a:p>
            <a:pPr>
              <a:defRPr sz="2200"/>
            </a:pPr>
            <a:r>
              <a:t>45–49 → D → 2.0</a:t>
            </a:r>
          </a:p>
          <a:p>
            <a:pPr>
              <a:defRPr sz="2200"/>
            </a:pPr>
            <a:r>
              <a:t>40–44 → E → 1.0</a:t>
            </a:r>
          </a:p>
          <a:p>
            <a:pPr>
              <a:defRPr sz="2200"/>
            </a:pPr>
            <a:r>
              <a:t>0–39 → F → 0.0</a:t>
            </a:r>
          </a:p>
          <a:p>
            <a:pPr>
              <a:defRPr sz="2200"/>
            </a:pPr>
            <a:r>
              <a:t>Quality Point = Grade Point × Credit Unit</a:t>
            </a:r>
          </a:p>
          <a:p>
            <a:pPr>
              <a:defRPr sz="2200"/>
            </a:pPr>
            <a:r>
              <a:t>GPA = Σ Quality Points / Σ Credit Units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 CRUD: create, read, update and delete students.</a:t>
            </a:r>
          </a:p>
          <a:p>
            <a:pPr>
              <a:defRPr sz="2200"/>
            </a:pPr>
            <a:r>
              <a:t>Course CRUD: create, read, update and delete courses.</a:t>
            </a:r>
          </a:p>
          <a:p>
            <a:pPr>
              <a:defRPr sz="2200"/>
            </a:pPr>
            <a:r>
              <a:t>Result CRUD: create, read, update and delete results.</a:t>
            </a:r>
          </a:p>
          <a:p>
            <a:pPr>
              <a:defRPr sz="2200"/>
            </a:pPr>
            <a:r>
              <a:t>Academic endpoints: GPA, CGPA and academic history.</a:t>
            </a:r>
          </a:p>
          <a:p>
            <a:pPr>
              <a:defRPr sz="2200"/>
            </a:pPr>
            <a:r>
              <a:t>Authentication: registration and JWT login.</a:t>
            </a:r>
          </a:p>
          <a:p>
            <a:pPr>
              <a:defRPr sz="2200"/>
            </a:pPr>
            <a:r>
              <a:t>Admin endpoint protected by role-based access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 statistics and ranking by GPA.</a:t>
            </a:r>
          </a:p>
          <a:p>
            <a:pPr>
              <a:defRPr sz="2200"/>
            </a:pPr>
            <a:r>
              <a:t>Class average, pass rate and failure rate.</a:t>
            </a:r>
          </a:p>
          <a:p>
            <a:pPr>
              <a:defRPr sz="2200"/>
            </a:pPr>
            <a:r>
              <a:t>Course-level average, highest and lowest scores.</a:t>
            </a:r>
          </a:p>
          <a:p>
            <a:pPr>
              <a:defRPr sz="2200"/>
            </a:pPr>
            <a:r>
              <a:t>Weakest and strongest course detection.</a:t>
            </a:r>
          </a:p>
          <a:p>
            <a:pPr>
              <a:defRPr sz="2200"/>
            </a:pPr>
            <a:r>
              <a:t>Grade distribution.</a:t>
            </a:r>
          </a:p>
          <a:p>
            <a:pPr>
              <a:defRPr sz="2200"/>
            </a:pPr>
            <a:r>
              <a:t>At-risk students using a configurable CGPA threshold.</a:t>
            </a:r>
          </a:p>
          <a:p>
            <a:pPr>
              <a:defRPr sz="2200"/>
            </a:pPr>
            <a:r>
              <a:t>Student performance trend across academic periods.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Academic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AIInsightService consumes verified analytics rather than calculating academic results.</a:t>
            </a:r>
          </a:p>
          <a:p>
            <a:pPr>
              <a:defRPr sz="2200"/>
            </a:pPr>
            <a:r>
              <a:t>Generates a human-readable performance explanation.</a:t>
            </a:r>
          </a:p>
          <a:p>
            <a:pPr>
              <a:defRPr sz="2200"/>
            </a:pPr>
            <a:r>
              <a:t>Identifies possible warning reasons.</a:t>
            </a:r>
          </a:p>
          <a:p>
            <a:pPr>
              <a:defRPr sz="2200"/>
            </a:pPr>
            <a:r>
              <a:t>Provides deterministic recommendations based on average score, weakest score and CGPA.</a:t>
            </a:r>
          </a:p>
          <a:p>
            <a:pPr>
              <a:defRPr sz="2200"/>
            </a:pPr>
            <a:r>
              <a:t>This keeps academic calculations transparent and verifiable.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Security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Passwords are hashed with bcrypt through Passlib.</a:t>
            </a:r>
          </a:p>
          <a:p>
            <a:pPr>
              <a:defRPr sz="2200"/>
            </a:pPr>
            <a:r>
              <a:t>JWT tokens protect authenticated resources.</a:t>
            </a:r>
          </a:p>
          <a:p>
            <a:pPr>
              <a:defRPr sz="2200"/>
            </a:pPr>
            <a:r>
              <a:t>Roles supported: admin, lecturer and student.</a:t>
            </a:r>
          </a:p>
          <a:p>
            <a:pPr>
              <a:defRPr sz="2200"/>
            </a:pPr>
            <a:r>
              <a:t>Admin-only dependency protects the administration dashboard.</a:t>
            </a:r>
          </a:p>
          <a:p>
            <a:pPr>
              <a:defRPr sz="2200"/>
            </a:pPr>
            <a:r>
              <a:t>Custom application exceptions cover not-found, duplicate, database and validation errors.</a:t>
            </a:r>
          </a:p>
          <a:p>
            <a:pPr>
              <a:defRPr sz="2200"/>
            </a:pPr>
            <a:r>
              <a:t>Unexpected errors return a controlled 500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13 test modules are included in the project dump.</a:t>
            </a:r>
          </a:p>
          <a:p>
            <a:pPr>
              <a:defRPr sz="2200"/>
            </a:pPr>
            <a:r>
              <a:t>106 test functions are present.</a:t>
            </a:r>
          </a:p>
          <a:p>
            <a:pPr>
              <a:defRPr sz="2200"/>
            </a:pPr>
            <a:r>
              <a:t>Coverage includes academic calculations, analytics, AI insights, API behavior, authentication, database behavior, errors and performance.</a:t>
            </a:r>
          </a:p>
          <a:p>
            <a:pPr>
              <a:defRPr sz="2200"/>
            </a:pPr>
            <a:r>
              <a:t>Tests use an isolated temporary SQLite database through TEST_DATABASE_PATH.</a:t>
            </a:r>
          </a:p>
          <a:p>
            <a:pPr>
              <a:defRPr sz="2200"/>
            </a:pPr>
            <a:r>
              <a:t>Run with: pytest -v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Results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 calculation:</a:t>
            </a:r>
          </a:p>
          <a:p>
            <a:pPr>
              <a:defRPr sz="2200"/>
            </a:pPr>
            <a:r>
              <a:t>CSC301: 80 × 3 → 5.0 × 3 = 15 quality points</a:t>
            </a:r>
          </a:p>
          <a:p>
            <a:pPr>
              <a:defRPr sz="2200"/>
            </a:pPr>
            <a:r>
              <a:t>MAT301: 60 × 3 → 4.0 × 3 = 12 quality points</a:t>
            </a:r>
          </a:p>
          <a:p>
            <a:pPr>
              <a:defRPr sz="2200"/>
            </a:pPr>
            <a:r>
              <a:t>STA301: 55 × 2 → 3.0 × 2 = 6 quality points</a:t>
            </a:r>
          </a:p>
          <a:p>
            <a:pPr>
              <a:defRPr sz="2200"/>
            </a:pPr>
            <a:r>
              <a:t>Total = 33 quality points / 8 credits</a:t>
            </a:r>
          </a:p>
          <a:p>
            <a:pPr>
              <a:defRPr sz="2200"/>
            </a:pPr>
            <a:r>
              <a:t>GPA = 4.13</a:t>
            </a:r>
          </a:p>
          <a:p>
            <a:pPr>
              <a:defRPr sz="2200"/>
            </a:pPr>
            <a:r>
              <a:t>The API can expose GPA/CGPA, analytics and insight responses as 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Start API with Uvicorn.</a:t>
            </a:r>
          </a:p>
          <a:p>
            <a:pPr>
              <a:defRPr sz="2200"/>
            </a:pPr>
            <a:r>
              <a:t>2. Open Swagger UI at /docs.</a:t>
            </a:r>
          </a:p>
          <a:p>
            <a:pPr>
              <a:defRPr sz="2200"/>
            </a:pPr>
            <a:r>
              <a:t>3. Register/login a user.</a:t>
            </a:r>
          </a:p>
          <a:p>
            <a:pPr>
              <a:defRPr sz="2200"/>
            </a:pPr>
            <a:r>
              <a:t>4. Create a student and courses.</a:t>
            </a:r>
          </a:p>
          <a:p>
            <a:pPr>
              <a:defRPr sz="2200"/>
            </a:pPr>
            <a:r>
              <a:t>5. Add examination results.</a:t>
            </a:r>
          </a:p>
          <a:p>
            <a:pPr>
              <a:defRPr sz="2200"/>
            </a:pPr>
            <a:r>
              <a:t>6. Request GPA/CGPA.</a:t>
            </a:r>
          </a:p>
          <a:p>
            <a:pPr>
              <a:defRPr sz="2200"/>
            </a:pPr>
            <a:r>
              <a:t>7. Request analytics and at-risk students.</a:t>
            </a:r>
          </a:p>
          <a:p>
            <a:pPr>
              <a:defRPr sz="2200"/>
            </a:pPr>
            <a:r>
              <a:t>8. Request the student performance insight.</a:t>
            </a:r>
          </a:p>
          <a:p>
            <a:pPr>
              <a:defRPr sz="2200"/>
            </a:pPr>
            <a:r>
              <a:t>9. Run pytest -v to demonstrate automated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system provides an end-to-end backend workflow for academic result processing.</a:t>
            </a:r>
          </a:p>
          <a:p>
            <a:pPr>
              <a:defRPr sz="2200"/>
            </a:pPr>
            <a:r>
              <a:t>It combines CRUD operations, validation, persistence, academic calculations and analytics.</a:t>
            </a:r>
          </a:p>
          <a:p>
            <a:pPr>
              <a:defRPr sz="2200"/>
            </a:pPr>
            <a:r>
              <a:t>Security and structured error handling improve reliability.</a:t>
            </a:r>
          </a:p>
          <a:p>
            <a:pPr>
              <a:defRPr sz="2200"/>
            </a:pPr>
            <a:r>
              <a:t>The project is ready for final GitHub documentation and submission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